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10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48242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0" cy="51435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Shape 1"/>
          <p:cNvSpPr/>
          <p:nvPr/>
        </p:nvSpPr>
        <p:spPr>
          <a:xfrm>
            <a:off x="3017520" y="0"/>
            <a:ext cx="109728" cy="5143500"/>
          </a:xfrm>
          <a:prstGeom prst="rect">
            <a:avLst/>
          </a:prstGeom>
          <a:solidFill>
            <a:srgbClr val="17B9D8"/>
          </a:solidFill>
          <a:ln w="12700">
            <a:solidFill>
              <a:srgbClr val="17B9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" name="Shape 2"/>
          <p:cNvSpPr/>
          <p:nvPr/>
        </p:nvSpPr>
        <p:spPr>
          <a:xfrm>
            <a:off x="164592" y="2286000"/>
            <a:ext cx="118872" cy="548640"/>
          </a:xfrm>
          <a:prstGeom prst="rect">
            <a:avLst/>
          </a:prstGeom>
          <a:solidFill>
            <a:srgbClr val="0F7EA3">
              <a:alpha val="60000"/>
            </a:srgbClr>
          </a:solidFill>
          <a:ln w="12700">
            <a:solidFill>
              <a:srgbClr val="0F7EA3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5" name="Shape 3"/>
          <p:cNvSpPr/>
          <p:nvPr/>
        </p:nvSpPr>
        <p:spPr>
          <a:xfrm>
            <a:off x="356616" y="1920240"/>
            <a:ext cx="118872" cy="1280160"/>
          </a:xfrm>
          <a:prstGeom prst="rect">
            <a:avLst/>
          </a:prstGeom>
          <a:solidFill>
            <a:srgbClr val="0F7EA3">
              <a:alpha val="60000"/>
            </a:srgbClr>
          </a:solidFill>
          <a:ln w="12700">
            <a:solidFill>
              <a:srgbClr val="0F7EA3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118872" cy="731520"/>
          </a:xfrm>
          <a:prstGeom prst="rect">
            <a:avLst/>
          </a:prstGeom>
          <a:solidFill>
            <a:srgbClr val="0F7EA3">
              <a:alpha val="60000"/>
            </a:srgbClr>
          </a:solidFill>
          <a:ln w="12700">
            <a:solidFill>
              <a:srgbClr val="0F7EA3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7" name="Shape 5"/>
          <p:cNvSpPr/>
          <p:nvPr/>
        </p:nvSpPr>
        <p:spPr>
          <a:xfrm>
            <a:off x="740664" y="1645920"/>
            <a:ext cx="118872" cy="1828800"/>
          </a:xfrm>
          <a:prstGeom prst="rect">
            <a:avLst/>
          </a:prstGeom>
          <a:solidFill>
            <a:srgbClr val="0F7EA3">
              <a:alpha val="60000"/>
            </a:srgbClr>
          </a:solidFill>
          <a:ln w="12700">
            <a:solidFill>
              <a:srgbClr val="0F7EA3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8" name="Shape 6"/>
          <p:cNvSpPr/>
          <p:nvPr/>
        </p:nvSpPr>
        <p:spPr>
          <a:xfrm>
            <a:off x="932688" y="2103120"/>
            <a:ext cx="118872" cy="914400"/>
          </a:xfrm>
          <a:prstGeom prst="rect">
            <a:avLst/>
          </a:prstGeom>
          <a:solidFill>
            <a:srgbClr val="0F7EA3">
              <a:alpha val="60000"/>
            </a:srgbClr>
          </a:solidFill>
          <a:ln w="12700">
            <a:solidFill>
              <a:srgbClr val="0F7EA3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9" name="Shape 7"/>
          <p:cNvSpPr/>
          <p:nvPr/>
        </p:nvSpPr>
        <p:spPr>
          <a:xfrm>
            <a:off x="1124712" y="1463040"/>
            <a:ext cx="118872" cy="2194560"/>
          </a:xfrm>
          <a:prstGeom prst="rect">
            <a:avLst/>
          </a:prstGeom>
          <a:solidFill>
            <a:srgbClr val="0F7EA3">
              <a:alpha val="60000"/>
            </a:srgbClr>
          </a:solidFill>
          <a:ln w="12700">
            <a:solidFill>
              <a:srgbClr val="0F7EA3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0" name="Shape 8"/>
          <p:cNvSpPr/>
          <p:nvPr/>
        </p:nvSpPr>
        <p:spPr>
          <a:xfrm>
            <a:off x="1316736" y="2011680"/>
            <a:ext cx="118872" cy="1097280"/>
          </a:xfrm>
          <a:prstGeom prst="rect">
            <a:avLst/>
          </a:prstGeom>
          <a:solidFill>
            <a:srgbClr val="0F7EA3">
              <a:alpha val="60000"/>
            </a:srgbClr>
          </a:solidFill>
          <a:ln w="12700">
            <a:solidFill>
              <a:srgbClr val="0F7EA3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1" name="Shape 9"/>
          <p:cNvSpPr/>
          <p:nvPr/>
        </p:nvSpPr>
        <p:spPr>
          <a:xfrm>
            <a:off x="1508760" y="1280160"/>
            <a:ext cx="118872" cy="2560320"/>
          </a:xfrm>
          <a:prstGeom prst="rect">
            <a:avLst/>
          </a:prstGeom>
          <a:solidFill>
            <a:srgbClr val="0F7EA3">
              <a:alpha val="60000"/>
            </a:srgbClr>
          </a:solidFill>
          <a:ln w="12700">
            <a:solidFill>
              <a:srgbClr val="0F7EA3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2" name="Shape 10"/>
          <p:cNvSpPr/>
          <p:nvPr/>
        </p:nvSpPr>
        <p:spPr>
          <a:xfrm>
            <a:off x="1700784" y="1737360"/>
            <a:ext cx="118872" cy="1645920"/>
          </a:xfrm>
          <a:prstGeom prst="rect">
            <a:avLst/>
          </a:prstGeom>
          <a:solidFill>
            <a:srgbClr val="0F7EA3">
              <a:alpha val="60000"/>
            </a:srgbClr>
          </a:solidFill>
          <a:ln w="12700">
            <a:solidFill>
              <a:srgbClr val="0F7EA3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3" name="Shape 11"/>
          <p:cNvSpPr/>
          <p:nvPr/>
        </p:nvSpPr>
        <p:spPr>
          <a:xfrm>
            <a:off x="1892808" y="1554480"/>
            <a:ext cx="118872" cy="2011680"/>
          </a:xfrm>
          <a:prstGeom prst="rect">
            <a:avLst/>
          </a:prstGeom>
          <a:solidFill>
            <a:srgbClr val="0F7EA3">
              <a:alpha val="60000"/>
            </a:srgbClr>
          </a:solidFill>
          <a:ln w="12700">
            <a:solidFill>
              <a:srgbClr val="0F7EA3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4" name="Shape 12"/>
          <p:cNvSpPr/>
          <p:nvPr/>
        </p:nvSpPr>
        <p:spPr>
          <a:xfrm>
            <a:off x="2084832" y="2148840"/>
            <a:ext cx="118872" cy="822960"/>
          </a:xfrm>
          <a:prstGeom prst="rect">
            <a:avLst/>
          </a:prstGeom>
          <a:solidFill>
            <a:srgbClr val="0F7EA3">
              <a:alpha val="60000"/>
            </a:srgbClr>
          </a:solidFill>
          <a:ln w="12700">
            <a:solidFill>
              <a:srgbClr val="0F7EA3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5" name="Shape 13"/>
          <p:cNvSpPr/>
          <p:nvPr/>
        </p:nvSpPr>
        <p:spPr>
          <a:xfrm>
            <a:off x="2276856" y="1828800"/>
            <a:ext cx="118872" cy="1463040"/>
          </a:xfrm>
          <a:prstGeom prst="rect">
            <a:avLst/>
          </a:prstGeom>
          <a:solidFill>
            <a:srgbClr val="0F7EA3">
              <a:alpha val="60000"/>
            </a:srgbClr>
          </a:solidFill>
          <a:ln w="12700">
            <a:solidFill>
              <a:srgbClr val="0F7EA3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6" name="Shape 14"/>
          <p:cNvSpPr/>
          <p:nvPr/>
        </p:nvSpPr>
        <p:spPr>
          <a:xfrm>
            <a:off x="2468880" y="2240280"/>
            <a:ext cx="118872" cy="640080"/>
          </a:xfrm>
          <a:prstGeom prst="rect">
            <a:avLst/>
          </a:prstGeom>
          <a:solidFill>
            <a:srgbClr val="0F7EA3">
              <a:alpha val="60000"/>
            </a:srgbClr>
          </a:solidFill>
          <a:ln w="12700">
            <a:solidFill>
              <a:srgbClr val="0F7EA3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7" name="Text 15"/>
          <p:cNvSpPr/>
          <p:nvPr/>
        </p:nvSpPr>
        <p:spPr>
          <a:xfrm>
            <a:off x="3291840" y="914400"/>
            <a:ext cx="5577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clustaudio</a:t>
            </a:r>
            <a:endParaRPr lang="en-US" sz="5200" dirty="0"/>
          </a:p>
        </p:txBody>
      </p:sp>
      <p:sp>
        <p:nvSpPr>
          <p:cNvPr id="18" name="Text 16"/>
          <p:cNvSpPr/>
          <p:nvPr/>
        </p:nvSpPr>
        <p:spPr>
          <a:xfrm>
            <a:off x="3291840" y="1874520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17B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Audio Clustering for Python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291840" y="2514600"/>
            <a:ext cx="3840480" cy="347472"/>
          </a:xfrm>
          <a:prstGeom prst="rect">
            <a:avLst/>
          </a:prstGeom>
          <a:solidFill>
            <a:srgbClr val="0A5F7A">
              <a:alpha val="70000"/>
            </a:srgbClr>
          </a:solidFill>
          <a:ln w="12700">
            <a:solidFill>
              <a:srgbClr val="17B9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0" name="Text 18"/>
          <p:cNvSpPr/>
          <p:nvPr/>
        </p:nvSpPr>
        <p:spPr>
          <a:xfrm>
            <a:off x="3291840" y="25146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7B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MFCC · Spectral · Chroma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91840" y="2990088"/>
            <a:ext cx="3840480" cy="347472"/>
          </a:xfrm>
          <a:prstGeom prst="rect">
            <a:avLst/>
          </a:prstGeom>
          <a:solidFill>
            <a:srgbClr val="0A5F7A">
              <a:alpha val="70000"/>
            </a:srgbClr>
          </a:solidFill>
          <a:ln w="12700">
            <a:solidFill>
              <a:srgbClr val="17B9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2" name="Text 20"/>
          <p:cNvSpPr/>
          <p:nvPr/>
        </p:nvSpPr>
        <p:spPr>
          <a:xfrm>
            <a:off x="3291840" y="299008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7B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 · Denoise · Separate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91840" y="3465576"/>
            <a:ext cx="3840480" cy="347472"/>
          </a:xfrm>
          <a:prstGeom prst="rect">
            <a:avLst/>
          </a:prstGeom>
          <a:solidFill>
            <a:srgbClr val="0A5F7A">
              <a:alpha val="70000"/>
            </a:srgbClr>
          </a:solidFill>
          <a:ln w="12700">
            <a:solidFill>
              <a:srgbClr val="17B9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4" name="Text 22"/>
          <p:cNvSpPr/>
          <p:nvPr/>
        </p:nvSpPr>
        <p:spPr>
          <a:xfrm>
            <a:off x="3291840" y="346557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7B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· DBindex · HDBSCAN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91840" y="448056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github.com/erdogant/clustaudio  |  pip install clustaudio  |  MIT License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37160" y="4206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Data Scientists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37160" y="4480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· ML · Clustering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94360"/>
          </a:xfrm>
          <a:prstGeom prst="rect">
            <a:avLst/>
          </a:prstGeom>
          <a:solidFill>
            <a:srgbClr val="17B9D8"/>
          </a:solidFill>
          <a:ln w="12700">
            <a:solidFill>
              <a:srgbClr val="17B9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" name="Text 2"/>
          <p:cNvSpPr/>
          <p:nvPr/>
        </p:nvSpPr>
        <p:spPr>
          <a:xfrm>
            <a:off x="201168" y="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Challenge: Audio Data at Scale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" name="Text 4"/>
          <p:cNvSpPr/>
          <p:nvPr/>
        </p:nvSpPr>
        <p:spPr>
          <a:xfrm>
            <a:off x="182880" y="495604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clustaudio  |  Python Audio Clustering Library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audio files.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1325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0F7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labels. No structure. No ground truth.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65760" y="1874520"/>
            <a:ext cx="26517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0" name="Shape 8"/>
          <p:cNvSpPr/>
          <p:nvPr/>
        </p:nvSpPr>
        <p:spPr>
          <a:xfrm>
            <a:off x="365760" y="1874520"/>
            <a:ext cx="2651760" cy="73152"/>
          </a:xfrm>
          <a:prstGeom prst="rect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1" name="Text 9"/>
          <p:cNvSpPr/>
          <p:nvPr/>
        </p:nvSpPr>
        <p:spPr>
          <a:xfrm>
            <a:off x="502920" y="199339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Tagging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2395728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to thousands of files to categorize them is impractical and subjective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1874520"/>
            <a:ext cx="26517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4" name="Shape 12"/>
          <p:cNvSpPr/>
          <p:nvPr/>
        </p:nvSpPr>
        <p:spPr>
          <a:xfrm>
            <a:off x="3200400" y="1874520"/>
            <a:ext cx="2651760" cy="73152"/>
          </a:xfrm>
          <a:prstGeom prst="rect">
            <a:avLst/>
          </a:prstGeom>
          <a:solidFill>
            <a:srgbClr val="0F7EA3"/>
          </a:solidFill>
          <a:ln w="12700">
            <a:solidFill>
              <a:srgbClr val="0F7EA3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5" name="Text 13"/>
          <p:cNvSpPr/>
          <p:nvPr/>
        </p:nvSpPr>
        <p:spPr>
          <a:xfrm>
            <a:off x="3337560" y="199339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37560" y="2395728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audio directories give you no insight into similarity, duplicates, or clusters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5040" y="1874520"/>
            <a:ext cx="26517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8" name="Shape 16"/>
          <p:cNvSpPr/>
          <p:nvPr/>
        </p:nvSpPr>
        <p:spPr>
          <a:xfrm>
            <a:off x="6035040" y="1874520"/>
            <a:ext cx="2651760" cy="7315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9" name="Text 17"/>
          <p:cNvSpPr/>
          <p:nvPr/>
        </p:nvSpPr>
        <p:spPr>
          <a:xfrm>
            <a:off x="6172200" y="199339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Complexity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172200" y="2395728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 recordings (ATC, radio) need preprocessing before any analysis can begin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114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scenarios: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434840"/>
            <a:ext cx="1554480" cy="320040"/>
          </a:xfrm>
          <a:prstGeom prst="rect">
            <a:avLst/>
          </a:prstGeom>
          <a:solidFill>
            <a:srgbClr val="E8F4F8"/>
          </a:solidFill>
          <a:ln w="12700">
            <a:solidFill>
              <a:srgbClr val="C8D8E4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3" name="Text 21"/>
          <p:cNvSpPr/>
          <p:nvPr/>
        </p:nvSpPr>
        <p:spPr>
          <a:xfrm>
            <a:off x="365760" y="44348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🎵 Music libraries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084832" y="4434840"/>
            <a:ext cx="1554480" cy="320040"/>
          </a:xfrm>
          <a:prstGeom prst="rect">
            <a:avLst/>
          </a:prstGeom>
          <a:solidFill>
            <a:srgbClr val="E8F4F8"/>
          </a:solidFill>
          <a:ln w="12700">
            <a:solidFill>
              <a:srgbClr val="C8D8E4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5" name="Text 23"/>
          <p:cNvSpPr/>
          <p:nvPr/>
        </p:nvSpPr>
        <p:spPr>
          <a:xfrm>
            <a:off x="2084832" y="44348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🎙️ Podcast episodes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803904" y="4434840"/>
            <a:ext cx="1554480" cy="320040"/>
          </a:xfrm>
          <a:prstGeom prst="rect">
            <a:avLst/>
          </a:prstGeom>
          <a:solidFill>
            <a:srgbClr val="E8F4F8"/>
          </a:solidFill>
          <a:ln w="12700">
            <a:solidFill>
              <a:srgbClr val="C8D8E4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7" name="Text 25"/>
          <p:cNvSpPr/>
          <p:nvPr/>
        </p:nvSpPr>
        <p:spPr>
          <a:xfrm>
            <a:off x="3803904" y="44348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✈️ ATC recordings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522976" y="4434840"/>
            <a:ext cx="1554480" cy="320040"/>
          </a:xfrm>
          <a:prstGeom prst="rect">
            <a:avLst/>
          </a:prstGeom>
          <a:solidFill>
            <a:srgbClr val="E8F4F8"/>
          </a:solidFill>
          <a:ln w="12700">
            <a:solidFill>
              <a:srgbClr val="C8D8E4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9" name="Text 27"/>
          <p:cNvSpPr/>
          <p:nvPr/>
        </p:nvSpPr>
        <p:spPr>
          <a:xfrm>
            <a:off x="5522976" y="44348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 Environmental sounds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242048" y="4434840"/>
            <a:ext cx="1554480" cy="320040"/>
          </a:xfrm>
          <a:prstGeom prst="rect">
            <a:avLst/>
          </a:prstGeom>
          <a:solidFill>
            <a:srgbClr val="E8F4F8"/>
          </a:solidFill>
          <a:ln w="12700">
            <a:solidFill>
              <a:srgbClr val="C8D8E4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1" name="Text 29"/>
          <p:cNvSpPr/>
          <p:nvPr/>
        </p:nvSpPr>
        <p:spPr>
          <a:xfrm>
            <a:off x="7242048" y="44348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Speaker diarization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94360"/>
          </a:xfrm>
          <a:prstGeom prst="rect">
            <a:avLst/>
          </a:prstGeom>
          <a:solidFill>
            <a:srgbClr val="17B9D8"/>
          </a:solidFill>
          <a:ln w="12700">
            <a:solidFill>
              <a:srgbClr val="17B9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" name="Text 2"/>
          <p:cNvSpPr/>
          <p:nvPr/>
        </p:nvSpPr>
        <p:spPr>
          <a:xfrm>
            <a:off x="201168" y="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clustaudio?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01168" y="5943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F7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unsupervised audio intelligence library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7" name="Text 5"/>
          <p:cNvSpPr/>
          <p:nvPr/>
        </p:nvSpPr>
        <p:spPr>
          <a:xfrm>
            <a:off x="182880" y="495604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clustaudio  |  Python Audio Clustering Library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365760" y="777240"/>
            <a:ext cx="8412480" cy="6858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9" name="Text 7"/>
          <p:cNvSpPr/>
          <p:nvPr/>
        </p:nvSpPr>
        <p:spPr>
          <a:xfrm>
            <a:off x="502920" y="77724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clustaudio automatically groups audio files by acoustic similarity — no labels required.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1627632"/>
            <a:ext cx="269748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1" name="Shape 9"/>
          <p:cNvSpPr/>
          <p:nvPr/>
        </p:nvSpPr>
        <p:spPr>
          <a:xfrm>
            <a:off x="365760" y="1627632"/>
            <a:ext cx="457200" cy="1353312"/>
          </a:xfrm>
          <a:prstGeom prst="rect">
            <a:avLst/>
          </a:prstGeom>
          <a:solidFill>
            <a:srgbClr val="0F7EA3"/>
          </a:solidFill>
          <a:ln w="12700">
            <a:solidFill>
              <a:srgbClr val="0F7EA3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11680"/>
            <a:ext cx="292608" cy="29260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932688" y="1810512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Acoustic Clustering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32688" y="2176272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MFCC, Spectral, Chroma, combined methods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200400" y="1627632"/>
            <a:ext cx="269748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6" name="Shape 13"/>
          <p:cNvSpPr/>
          <p:nvPr/>
        </p:nvSpPr>
        <p:spPr>
          <a:xfrm>
            <a:off x="3200400" y="1627632"/>
            <a:ext cx="457200" cy="135331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2011680"/>
            <a:ext cx="292608" cy="29260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767328" y="1810512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Search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3767328" y="2176272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k-NN and probabilistic audio matching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6035040" y="1627632"/>
            <a:ext cx="269748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21" name="Shape 17"/>
          <p:cNvSpPr/>
          <p:nvPr/>
        </p:nvSpPr>
        <p:spPr>
          <a:xfrm>
            <a:off x="6035040" y="1627632"/>
            <a:ext cx="457200" cy="1353312"/>
          </a:xfrm>
          <a:prstGeom prst="rect">
            <a:avLst/>
          </a:prstGeom>
          <a:solidFill>
            <a:srgbClr val="0A5F7A"/>
          </a:solidFill>
          <a:ln w="12700">
            <a:solidFill>
              <a:srgbClr val="0A5F7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2011680"/>
            <a:ext cx="292608" cy="29260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601968" y="1810512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Activity Detection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6601968" y="2176272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Energy, librosa, WebRTC VAD methods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365760" y="3136392"/>
            <a:ext cx="269748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26" name="Shape 21"/>
          <p:cNvSpPr/>
          <p:nvPr/>
        </p:nvSpPr>
        <p:spPr>
          <a:xfrm>
            <a:off x="365760" y="3136392"/>
            <a:ext cx="457200" cy="1353312"/>
          </a:xfrm>
          <a:prstGeom prst="rect">
            <a:avLst/>
          </a:prstGeom>
          <a:solidFill>
            <a:srgbClr val="0F7EA3"/>
          </a:solidFill>
          <a:ln w="12700">
            <a:solidFill>
              <a:srgbClr val="0F7EA3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520440"/>
            <a:ext cx="292608" cy="29260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32688" y="3319272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Denoising &amp; Separation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932688" y="3685032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Spectral, Wiener, NMF foreground/background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3200400" y="3136392"/>
            <a:ext cx="269748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31" name="Shape 25"/>
          <p:cNvSpPr/>
          <p:nvPr/>
        </p:nvSpPr>
        <p:spPr>
          <a:xfrm>
            <a:off x="3200400" y="3136392"/>
            <a:ext cx="457200" cy="135331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91840" y="3520440"/>
            <a:ext cx="292608" cy="292608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3767328" y="3319272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Evaluation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3767328" y="3685032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Silhouette, DBindex, derivative metrics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6035040" y="3136392"/>
            <a:ext cx="269748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36" name="Shape 29"/>
          <p:cNvSpPr/>
          <p:nvPr/>
        </p:nvSpPr>
        <p:spPr>
          <a:xfrm>
            <a:off x="6035040" y="3136392"/>
            <a:ext cx="457200" cy="1353312"/>
          </a:xfrm>
          <a:prstGeom prst="rect">
            <a:avLst/>
          </a:prstGeom>
          <a:solidFill>
            <a:srgbClr val="0A5F7A"/>
          </a:solidFill>
          <a:ln w="12700">
            <a:solidFill>
              <a:srgbClr val="0A5F7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6480" y="3520440"/>
            <a:ext cx="292608" cy="292608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6601968" y="3319272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Playlist &amp; Organization</a:t>
            </a:r>
            <a:endParaRPr lang="en-US" sz="1200" dirty="0"/>
          </a:p>
        </p:txBody>
      </p:sp>
      <p:sp>
        <p:nvSpPr>
          <p:cNvPr id="39" name="Text 31"/>
          <p:cNvSpPr/>
          <p:nvPr/>
        </p:nvSpPr>
        <p:spPr>
          <a:xfrm>
            <a:off x="6601968" y="3685032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Auto-organize and generate M3U8 playlists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94360"/>
          </a:xfrm>
          <a:prstGeom prst="rect">
            <a:avLst/>
          </a:prstGeom>
          <a:solidFill>
            <a:srgbClr val="17B9D8"/>
          </a:solidFill>
          <a:ln w="12700">
            <a:solidFill>
              <a:srgbClr val="17B9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" name="Text 2"/>
          <p:cNvSpPr/>
          <p:nvPr/>
        </p:nvSpPr>
        <p:spPr>
          <a:xfrm>
            <a:off x="201168" y="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Pipeline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01168" y="5943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F7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modular steps — use all or any subset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7" name="Text 5"/>
          <p:cNvSpPr/>
          <p:nvPr/>
        </p:nvSpPr>
        <p:spPr>
          <a:xfrm>
            <a:off x="182880" y="495604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clustaudio  |  Python Audio Clustering Library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228600" y="822960"/>
            <a:ext cx="15544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9" name="Shape 7"/>
          <p:cNvSpPr/>
          <p:nvPr/>
        </p:nvSpPr>
        <p:spPr>
          <a:xfrm>
            <a:off x="228600" y="822960"/>
            <a:ext cx="1554480" cy="502920"/>
          </a:xfrm>
          <a:prstGeom prst="rect">
            <a:avLst/>
          </a:prstGeom>
          <a:solidFill>
            <a:srgbClr val="0F7EA3"/>
          </a:solidFill>
          <a:ln w="12700">
            <a:solidFill>
              <a:srgbClr val="0F7EA3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0" name="Shape 8"/>
          <p:cNvSpPr/>
          <p:nvPr/>
        </p:nvSpPr>
        <p:spPr>
          <a:xfrm>
            <a:off x="749808" y="1078992"/>
            <a:ext cx="512064" cy="5120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1" name="Text 9"/>
          <p:cNvSpPr/>
          <p:nvPr/>
        </p:nvSpPr>
        <p:spPr>
          <a:xfrm>
            <a:off x="749808" y="10789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7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20040" y="144475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Audio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0040" y="192024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 · MP3 · FLAC · OGG · M4A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Resample · Mono · Normalize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783080" y="2112264"/>
            <a:ext cx="137160" cy="73152"/>
          </a:xfrm>
          <a:prstGeom prst="rect">
            <a:avLst/>
          </a:prstGeom>
          <a:solidFill>
            <a:srgbClr val="17B9D8"/>
          </a:solidFill>
          <a:ln w="12700">
            <a:solidFill>
              <a:srgbClr val="17B9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5" name="Shape 13"/>
          <p:cNvSpPr/>
          <p:nvPr/>
        </p:nvSpPr>
        <p:spPr>
          <a:xfrm>
            <a:off x="1920240" y="822960"/>
            <a:ext cx="15544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6" name="Shape 14"/>
          <p:cNvSpPr/>
          <p:nvPr/>
        </p:nvSpPr>
        <p:spPr>
          <a:xfrm>
            <a:off x="1920240" y="822960"/>
            <a:ext cx="1554480" cy="502920"/>
          </a:xfrm>
          <a:prstGeom prst="rect">
            <a:avLst/>
          </a:prstGeom>
          <a:solidFill>
            <a:srgbClr val="0A5F7A"/>
          </a:solidFill>
          <a:ln w="12700">
            <a:solidFill>
              <a:srgbClr val="0A5F7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7" name="Shape 15"/>
          <p:cNvSpPr/>
          <p:nvPr/>
        </p:nvSpPr>
        <p:spPr>
          <a:xfrm>
            <a:off x="2441448" y="1078992"/>
            <a:ext cx="512064" cy="5120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8" name="Text 16"/>
          <p:cNvSpPr/>
          <p:nvPr/>
        </p:nvSpPr>
        <p:spPr>
          <a:xfrm>
            <a:off x="2441448" y="10789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011680" y="144475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011680" y="192024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Denoise · Enhance · Separate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Foreground / Background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474720" y="2112264"/>
            <a:ext cx="137160" cy="73152"/>
          </a:xfrm>
          <a:prstGeom prst="rect">
            <a:avLst/>
          </a:prstGeom>
          <a:solidFill>
            <a:srgbClr val="17B9D8"/>
          </a:solidFill>
          <a:ln w="12700">
            <a:solidFill>
              <a:srgbClr val="17B9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2" name="Shape 20"/>
          <p:cNvSpPr/>
          <p:nvPr/>
        </p:nvSpPr>
        <p:spPr>
          <a:xfrm>
            <a:off x="3611880" y="822960"/>
            <a:ext cx="15544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23" name="Shape 21"/>
          <p:cNvSpPr/>
          <p:nvPr/>
        </p:nvSpPr>
        <p:spPr>
          <a:xfrm>
            <a:off x="3611880" y="822960"/>
            <a:ext cx="1554480" cy="5029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4" name="Shape 22"/>
          <p:cNvSpPr/>
          <p:nvPr/>
        </p:nvSpPr>
        <p:spPr>
          <a:xfrm>
            <a:off x="4133088" y="1078992"/>
            <a:ext cx="512064" cy="5120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5" name="Text 23"/>
          <p:cNvSpPr/>
          <p:nvPr/>
        </p:nvSpPr>
        <p:spPr>
          <a:xfrm>
            <a:off x="4133088" y="10789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3703320" y="144475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Features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703320" y="192024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MFCC · Spectral · Chroma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Fingerprint · Metadata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166360" y="2112264"/>
            <a:ext cx="137160" cy="73152"/>
          </a:xfrm>
          <a:prstGeom prst="rect">
            <a:avLst/>
          </a:prstGeom>
          <a:solidFill>
            <a:srgbClr val="17B9D8"/>
          </a:solidFill>
          <a:ln w="12700">
            <a:solidFill>
              <a:srgbClr val="17B9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9" name="Shape 27"/>
          <p:cNvSpPr/>
          <p:nvPr/>
        </p:nvSpPr>
        <p:spPr>
          <a:xfrm>
            <a:off x="5303520" y="822960"/>
            <a:ext cx="15544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30" name="Shape 28"/>
          <p:cNvSpPr/>
          <p:nvPr/>
        </p:nvSpPr>
        <p:spPr>
          <a:xfrm>
            <a:off x="5303520" y="822960"/>
            <a:ext cx="1554480" cy="502920"/>
          </a:xfrm>
          <a:prstGeom prst="rect">
            <a:avLst/>
          </a:prstGeom>
          <a:solidFill>
            <a:srgbClr val="0F7EA3"/>
          </a:solidFill>
          <a:ln w="12700">
            <a:solidFill>
              <a:srgbClr val="0F7EA3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1" name="Shape 29"/>
          <p:cNvSpPr/>
          <p:nvPr/>
        </p:nvSpPr>
        <p:spPr>
          <a:xfrm>
            <a:off x="5824728" y="1078992"/>
            <a:ext cx="512064" cy="5120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2" name="Text 30"/>
          <p:cNvSpPr/>
          <p:nvPr/>
        </p:nvSpPr>
        <p:spPr>
          <a:xfrm>
            <a:off x="5824728" y="10789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7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394960" y="144475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&amp; Cluster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394960" y="192024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t-SNE / UMAP embedding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· DBindex · HDBSCAN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858000" y="2112264"/>
            <a:ext cx="137160" cy="73152"/>
          </a:xfrm>
          <a:prstGeom prst="rect">
            <a:avLst/>
          </a:prstGeom>
          <a:solidFill>
            <a:srgbClr val="17B9D8"/>
          </a:solidFill>
          <a:ln w="12700">
            <a:solidFill>
              <a:srgbClr val="17B9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6" name="Shape 34"/>
          <p:cNvSpPr/>
          <p:nvPr/>
        </p:nvSpPr>
        <p:spPr>
          <a:xfrm>
            <a:off x="6995160" y="822960"/>
            <a:ext cx="15544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37" name="Shape 35"/>
          <p:cNvSpPr/>
          <p:nvPr/>
        </p:nvSpPr>
        <p:spPr>
          <a:xfrm>
            <a:off x="6995160" y="822960"/>
            <a:ext cx="1554480" cy="502920"/>
          </a:xfrm>
          <a:prstGeom prst="rect">
            <a:avLst/>
          </a:prstGeom>
          <a:solidFill>
            <a:srgbClr val="0A5F7A"/>
          </a:solidFill>
          <a:ln w="12700">
            <a:solidFill>
              <a:srgbClr val="0A5F7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8" name="Shape 36"/>
          <p:cNvSpPr/>
          <p:nvPr/>
        </p:nvSpPr>
        <p:spPr>
          <a:xfrm>
            <a:off x="7516368" y="1078992"/>
            <a:ext cx="512064" cy="5120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9" name="Text 37"/>
          <p:cNvSpPr/>
          <p:nvPr/>
        </p:nvSpPr>
        <p:spPr>
          <a:xfrm>
            <a:off x="7516368" y="10789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7086600" y="144475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&amp; Export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086600" y="192024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· Waveforms · Specs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Playlists · Organized folders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28600" y="3703320"/>
            <a:ext cx="8686800" cy="502920"/>
          </a:xfrm>
          <a:prstGeom prst="rect">
            <a:avLst/>
          </a:prstGeom>
          <a:solidFill>
            <a:srgbClr val="E8F4F8"/>
          </a:solidFill>
          <a:ln w="12700">
            <a:solidFill>
              <a:srgbClr val="C8D8E4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3" name="Text 41"/>
          <p:cNvSpPr/>
          <p:nvPr/>
        </p:nvSpPr>
        <p:spPr>
          <a:xfrm>
            <a:off x="365760" y="3703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Each step is independently callable — run fit_transform() for full pipeline, or import_data() → extract_feat() → embedding() → cluster() individually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94360"/>
          </a:xfrm>
          <a:prstGeom prst="rect">
            <a:avLst/>
          </a:prstGeom>
          <a:solidFill>
            <a:srgbClr val="17B9D8"/>
          </a:solidFill>
          <a:ln w="12700">
            <a:solidFill>
              <a:srgbClr val="17B9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" name="Text 2"/>
          <p:cNvSpPr/>
          <p:nvPr/>
        </p:nvSpPr>
        <p:spPr>
          <a:xfrm>
            <a:off x="201168" y="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 Methods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01168" y="5943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F7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right acoustic representation for your use case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7" name="Text 5"/>
          <p:cNvSpPr/>
          <p:nvPr/>
        </p:nvSpPr>
        <p:spPr>
          <a:xfrm>
            <a:off x="182880" y="495604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clustaudio  |  Python Audio Clustering Library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320040" y="804672"/>
            <a:ext cx="26974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F7EA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9" name="Shape 7"/>
          <p:cNvSpPr/>
          <p:nvPr/>
        </p:nvSpPr>
        <p:spPr>
          <a:xfrm>
            <a:off x="2560320" y="914400"/>
            <a:ext cx="347472" cy="201168"/>
          </a:xfrm>
          <a:prstGeom prst="rect">
            <a:avLst/>
          </a:prstGeom>
          <a:solidFill>
            <a:srgbClr val="0F7EA3"/>
          </a:solidFill>
          <a:ln w="12700">
            <a:solidFill>
              <a:srgbClr val="0F7EA3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0" name="Text 8"/>
          <p:cNvSpPr/>
          <p:nvPr/>
        </p:nvSpPr>
        <p:spPr>
          <a:xfrm>
            <a:off x="2560320" y="91440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TOP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57200" y="91440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MFCC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1280160"/>
            <a:ext cx="914400" cy="201168"/>
          </a:xfrm>
          <a:prstGeom prst="rect">
            <a:avLst/>
          </a:prstGeom>
          <a:solidFill>
            <a:srgbClr val="E8F4F8"/>
          </a:solidFill>
          <a:ln w="12700">
            <a:solidFill>
              <a:srgbClr val="C8D8E4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3" name="Text 11"/>
          <p:cNvSpPr/>
          <p:nvPr/>
        </p:nvSpPr>
        <p:spPr>
          <a:xfrm>
            <a:off x="457200" y="128016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Speech, general audio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57200" y="1581912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13–40 coefficients capturing spectral envelope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0" y="804672"/>
            <a:ext cx="26974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6" name="Text 14"/>
          <p:cNvSpPr/>
          <p:nvPr/>
        </p:nvSpPr>
        <p:spPr>
          <a:xfrm>
            <a:off x="3337560" y="91440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337560" y="1280160"/>
            <a:ext cx="914400" cy="201168"/>
          </a:xfrm>
          <a:prstGeom prst="rect">
            <a:avLst/>
          </a:prstGeom>
          <a:solidFill>
            <a:srgbClr val="E8F4F8"/>
          </a:solidFill>
          <a:ln w="12700">
            <a:solidFill>
              <a:srgbClr val="C8D8E4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8" name="Text 16"/>
          <p:cNvSpPr/>
          <p:nvPr/>
        </p:nvSpPr>
        <p:spPr>
          <a:xfrm>
            <a:off x="3337560" y="128016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Timbre analysis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337560" y="1581912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Centroid, rolloff, contrast, bandwidth, ZCR, RMS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080760" y="804672"/>
            <a:ext cx="26974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21" name="Text 19"/>
          <p:cNvSpPr/>
          <p:nvPr/>
        </p:nvSpPr>
        <p:spPr>
          <a:xfrm>
            <a:off x="6217920" y="91440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217920" y="1280160"/>
            <a:ext cx="914400" cy="201168"/>
          </a:xfrm>
          <a:prstGeom prst="rect">
            <a:avLst/>
          </a:prstGeom>
          <a:solidFill>
            <a:srgbClr val="E8F4F8"/>
          </a:solidFill>
          <a:ln w="12700">
            <a:solidFill>
              <a:srgbClr val="C8D8E4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3" name="Text 21"/>
          <p:cNvSpPr/>
          <p:nvPr/>
        </p:nvSpPr>
        <p:spPr>
          <a:xfrm>
            <a:off x="6217920" y="128016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Music, pitch analysis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217920" y="1581912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pitch class profiles from chromagram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" y="2596896"/>
            <a:ext cx="26974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F7EA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26" name="Shape 24"/>
          <p:cNvSpPr/>
          <p:nvPr/>
        </p:nvSpPr>
        <p:spPr>
          <a:xfrm>
            <a:off x="2560320" y="2706624"/>
            <a:ext cx="347472" cy="201168"/>
          </a:xfrm>
          <a:prstGeom prst="rect">
            <a:avLst/>
          </a:prstGeom>
          <a:solidFill>
            <a:srgbClr val="0F7EA3"/>
          </a:solidFill>
          <a:ln w="12700">
            <a:solidFill>
              <a:srgbClr val="0F7EA3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7" name="Text 25"/>
          <p:cNvSpPr/>
          <p:nvPr/>
        </p:nvSpPr>
        <p:spPr>
          <a:xfrm>
            <a:off x="2560320" y="2706624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TOP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57200" y="270662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MFCC + Spectral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57200" y="3072384"/>
            <a:ext cx="914400" cy="201168"/>
          </a:xfrm>
          <a:prstGeom prst="rect">
            <a:avLst/>
          </a:prstGeom>
          <a:solidFill>
            <a:srgbClr val="E8F4F8"/>
          </a:solidFill>
          <a:ln w="12700">
            <a:solidFill>
              <a:srgbClr val="C8D8E4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0" name="Text 28"/>
          <p:cNvSpPr/>
          <p:nvPr/>
        </p:nvSpPr>
        <p:spPr>
          <a:xfrm>
            <a:off x="457200" y="3072384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57200" y="3374136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features for best overall accuracy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200400" y="2596896"/>
            <a:ext cx="26974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33" name="Text 31"/>
          <p:cNvSpPr/>
          <p:nvPr/>
        </p:nvSpPr>
        <p:spPr>
          <a:xfrm>
            <a:off x="3337560" y="270662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Fingerprint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3337560" y="3072384"/>
            <a:ext cx="914400" cy="201168"/>
          </a:xfrm>
          <a:prstGeom prst="rect">
            <a:avLst/>
          </a:prstGeom>
          <a:solidFill>
            <a:srgbClr val="E8F4F8"/>
          </a:solidFill>
          <a:ln w="12700">
            <a:solidFill>
              <a:srgbClr val="C8D8E4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5" name="Text 33"/>
          <p:cNvSpPr/>
          <p:nvPr/>
        </p:nvSpPr>
        <p:spPr>
          <a:xfrm>
            <a:off x="3337560" y="3072384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detection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337560" y="3374136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 hash + spectral hash for matching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080760" y="2596896"/>
            <a:ext cx="26974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38" name="Text 36"/>
          <p:cNvSpPr/>
          <p:nvPr/>
        </p:nvSpPr>
        <p:spPr>
          <a:xfrm>
            <a:off x="6217920" y="270662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217920" y="3072384"/>
            <a:ext cx="914400" cy="201168"/>
          </a:xfrm>
          <a:prstGeom prst="rect">
            <a:avLst/>
          </a:prstGeom>
          <a:solidFill>
            <a:srgbClr val="E8F4F8"/>
          </a:solidFill>
          <a:ln w="12700">
            <a:solidFill>
              <a:srgbClr val="C8D8E4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0" name="Text 38"/>
          <p:cNvSpPr/>
          <p:nvPr/>
        </p:nvSpPr>
        <p:spPr>
          <a:xfrm>
            <a:off x="6217920" y="3072384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 by tags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217920" y="3374136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ID3, Vorbis, MP4: artist, album, genre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94360"/>
          </a:xfrm>
          <a:prstGeom prst="rect">
            <a:avLst/>
          </a:prstGeom>
          <a:solidFill>
            <a:srgbClr val="17B9D8"/>
          </a:solidFill>
          <a:ln w="12700">
            <a:solidFill>
              <a:srgbClr val="17B9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" name="Text 2"/>
          <p:cNvSpPr/>
          <p:nvPr/>
        </p:nvSpPr>
        <p:spPr>
          <a:xfrm>
            <a:off x="201168" y="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Evaluation — Finding the Optimal 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01168" y="5943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F7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search across clustering methods and evaluation metrics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7" name="Text 5"/>
          <p:cNvSpPr/>
          <p:nvPr/>
        </p:nvSpPr>
        <p:spPr>
          <a:xfrm>
            <a:off x="182880" y="495604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clustaudio  |  Python Audio Clustering Library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80467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1234440"/>
            <a:ext cx="3840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0" name="Shape 8"/>
          <p:cNvSpPr/>
          <p:nvPr/>
        </p:nvSpPr>
        <p:spPr>
          <a:xfrm>
            <a:off x="365760" y="1234440"/>
            <a:ext cx="73152" cy="868680"/>
          </a:xfrm>
          <a:prstGeom prst="rect">
            <a:avLst/>
          </a:prstGeom>
          <a:solidFill>
            <a:srgbClr val="0F7EA3"/>
          </a:solidFill>
          <a:ln w="12700">
            <a:solidFill>
              <a:srgbClr val="0F7EA3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1" name="Text 9"/>
          <p:cNvSpPr/>
          <p:nvPr/>
        </p:nvSpPr>
        <p:spPr>
          <a:xfrm>
            <a:off x="548640" y="13258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161848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well each sample fits its cluster vs neighbors. Range: [−1, 1]. Higher = better separation.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240280"/>
            <a:ext cx="3840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73152" cy="86868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5" name="Text 13"/>
          <p:cNvSpPr/>
          <p:nvPr/>
        </p:nvSpPr>
        <p:spPr>
          <a:xfrm>
            <a:off x="548640" y="2331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DBindex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262432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Davies–Bouldin ratio of cluster spread to separation. Lower = tighter, well-separated clusters.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246120"/>
            <a:ext cx="3840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8" name="Shape 16"/>
          <p:cNvSpPr/>
          <p:nvPr/>
        </p:nvSpPr>
        <p:spPr>
          <a:xfrm>
            <a:off x="365760" y="3246120"/>
            <a:ext cx="73152" cy="868680"/>
          </a:xfrm>
          <a:prstGeom prst="rect">
            <a:avLst/>
          </a:prstGeom>
          <a:solidFill>
            <a:srgbClr val="0A5F7A"/>
          </a:solidFill>
          <a:ln w="12700">
            <a:solidFill>
              <a:srgbClr val="0A5F7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9" name="Text 17"/>
          <p:cNvSpPr/>
          <p:nvPr/>
        </p:nvSpPr>
        <p:spPr>
          <a:xfrm>
            <a:off x="548640" y="33375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Derivative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363016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Rate-of-change of inertia. Finds the 'elbow' without manual inspection.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0" y="804672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Algorithms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0" y="1234440"/>
            <a:ext cx="4160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0F7EA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23" name="Text 21"/>
          <p:cNvSpPr/>
          <p:nvPr/>
        </p:nvSpPr>
        <p:spPr>
          <a:xfrm>
            <a:off x="4709160" y="130759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7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Agglomerative  ✓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09160" y="158191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— best for structured audio data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0" y="2002536"/>
            <a:ext cx="4160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26" name="Text 24"/>
          <p:cNvSpPr/>
          <p:nvPr/>
        </p:nvSpPr>
        <p:spPr>
          <a:xfrm>
            <a:off x="4709160" y="207568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709160" y="235000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scalable — when approximate K is known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0" y="2770632"/>
            <a:ext cx="4160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29" name="Text 27"/>
          <p:cNvSpPr/>
          <p:nvPr/>
        </p:nvSpPr>
        <p:spPr>
          <a:xfrm>
            <a:off x="4709160" y="284378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709160" y="31181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Density-based — detects outliers and irregular clusters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0" y="3538728"/>
            <a:ext cx="4160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0F7EA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32" name="Text 30"/>
          <p:cNvSpPr/>
          <p:nvPr/>
        </p:nvSpPr>
        <p:spPr>
          <a:xfrm>
            <a:off x="4709160" y="36118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7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HDBSCAN  ✓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709160" y="38862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DBSCAN — handles varying density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0" y="4297680"/>
            <a:ext cx="4160520" cy="5029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35" name="Text 33"/>
          <p:cNvSpPr/>
          <p:nvPr/>
        </p:nvSpPr>
        <p:spPr>
          <a:xfrm>
            <a:off x="4663440" y="4297680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B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search: cluster_space = 'high' (features) or 'low' (t-SNE/UMAP)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94360"/>
          </a:xfrm>
          <a:prstGeom prst="rect">
            <a:avLst/>
          </a:prstGeom>
          <a:solidFill>
            <a:srgbClr val="17B9D8"/>
          </a:solidFill>
          <a:ln w="12700">
            <a:solidFill>
              <a:srgbClr val="17B9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" name="Text 2"/>
          <p:cNvSpPr/>
          <p:nvPr/>
        </p:nvSpPr>
        <p:spPr>
          <a:xfrm>
            <a:off x="201168" y="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Audio Processing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01168" y="5943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F7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tools for noisy and complex recordings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7" name="Text 5"/>
          <p:cNvSpPr/>
          <p:nvPr/>
        </p:nvSpPr>
        <p:spPr>
          <a:xfrm>
            <a:off x="182880" y="495604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clustaudio  |  Python Audio Clustering Library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320040" y="822960"/>
            <a:ext cx="26974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9" name="Shape 7"/>
          <p:cNvSpPr/>
          <p:nvPr/>
        </p:nvSpPr>
        <p:spPr>
          <a:xfrm>
            <a:off x="320040" y="822960"/>
            <a:ext cx="2697480" cy="457200"/>
          </a:xfrm>
          <a:prstGeom prst="rect">
            <a:avLst/>
          </a:prstGeom>
          <a:solidFill>
            <a:srgbClr val="0F7EA3"/>
          </a:solidFill>
          <a:ln w="12700">
            <a:solidFill>
              <a:srgbClr val="0F7EA3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0" name="Text 8"/>
          <p:cNvSpPr/>
          <p:nvPr/>
        </p:nvSpPr>
        <p:spPr>
          <a:xfrm>
            <a:off x="429768" y="8229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Activity Detection (VAD)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137160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164592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7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— RMS threshold-based segment detection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02996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7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librosa — onset strength function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2414016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7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webrtcvad — Google's WebRTC VAD (optional)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3794760"/>
            <a:ext cx="2514600" cy="320040"/>
          </a:xfrm>
          <a:prstGeom prst="rect">
            <a:avLst/>
          </a:prstGeom>
          <a:solidFill>
            <a:srgbClr val="E8F4F8"/>
          </a:solidFill>
          <a:ln w="12700">
            <a:solidFill>
              <a:srgbClr val="C8D8E4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6" name="Text 14"/>
          <p:cNvSpPr/>
          <p:nvPr/>
        </p:nvSpPr>
        <p:spPr>
          <a:xfrm>
            <a:off x="457200" y="37947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 Timestamped voice segment files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11480" y="4224528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case: Podcasts · ATC · Speaker diarization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0" y="822960"/>
            <a:ext cx="26974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9" name="Shape 17"/>
          <p:cNvSpPr/>
          <p:nvPr/>
        </p:nvSpPr>
        <p:spPr>
          <a:xfrm>
            <a:off x="3200400" y="822960"/>
            <a:ext cx="2697480" cy="4572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0" name="Text 18"/>
          <p:cNvSpPr/>
          <p:nvPr/>
        </p:nvSpPr>
        <p:spPr>
          <a:xfrm>
            <a:off x="3310128" y="8229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Denoising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37560" y="137160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37560" y="164592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— Spectral subtraction (default)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37560" y="202996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wiener — Adaptive Wiener filter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37560" y="2414016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noisereduce — ML-based noise reduction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37560" y="2798064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bandpass — 300–3400 Hz for speech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91840" y="3794760"/>
            <a:ext cx="2514600" cy="320040"/>
          </a:xfrm>
          <a:prstGeom prst="rect">
            <a:avLst/>
          </a:prstGeom>
          <a:solidFill>
            <a:srgbClr val="E8F4F8"/>
          </a:solidFill>
          <a:ln w="12700">
            <a:solidFill>
              <a:srgbClr val="C8D8E4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7" name="Text 25"/>
          <p:cNvSpPr/>
          <p:nvPr/>
        </p:nvSpPr>
        <p:spPr>
          <a:xfrm>
            <a:off x="3337560" y="37947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 Clean audio at 5–10× real-time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291840" y="4224528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case: Radio comms · Field recordings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080760" y="822960"/>
            <a:ext cx="26974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30" name="Shape 28"/>
          <p:cNvSpPr/>
          <p:nvPr/>
        </p:nvSpPr>
        <p:spPr>
          <a:xfrm>
            <a:off x="6080760" y="822960"/>
            <a:ext cx="2697480" cy="457200"/>
          </a:xfrm>
          <a:prstGeom prst="rect">
            <a:avLst/>
          </a:prstGeom>
          <a:solidFill>
            <a:srgbClr val="0A5F7A"/>
          </a:solidFill>
          <a:ln w="12700">
            <a:solidFill>
              <a:srgbClr val="0A5F7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1" name="Text 29"/>
          <p:cNvSpPr/>
          <p:nvPr/>
        </p:nvSpPr>
        <p:spPr>
          <a:xfrm>
            <a:off x="6190488" y="8229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Foreground / Background Separation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217920" y="137160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Methods: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17920" y="164592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spectral_masking — Frequency masking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17920" y="202996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harmonic_percussive — HPSS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17920" y="2414016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nmf — Non-negative Matrix Factorization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217920" y="2798064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wiener — Iterative Wiener filtering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172200" y="3794760"/>
            <a:ext cx="2514600" cy="320040"/>
          </a:xfrm>
          <a:prstGeom prst="rect">
            <a:avLst/>
          </a:prstGeom>
          <a:solidFill>
            <a:srgbClr val="E8F4F8"/>
          </a:solidFill>
          <a:ln w="12700">
            <a:solidFill>
              <a:srgbClr val="C8D8E4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8" name="Text 36"/>
          <p:cNvSpPr/>
          <p:nvPr/>
        </p:nvSpPr>
        <p:spPr>
          <a:xfrm>
            <a:off x="6217920" y="37947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 Separate signal + noise audio files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172200" y="4224528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case: ATC · Environmental audio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5F7A"/>
          </a:solidFill>
          <a:ln w="12700">
            <a:solidFill>
              <a:srgbClr val="0A5F7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94360"/>
          </a:xfrm>
          <a:prstGeom prst="rect">
            <a:avLst/>
          </a:prstGeom>
          <a:solidFill>
            <a:srgbClr val="17B9D8"/>
          </a:solidFill>
          <a:ln w="12700">
            <a:solidFill>
              <a:srgbClr val="17B9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" name="Text 2"/>
          <p:cNvSpPr/>
          <p:nvPr/>
        </p:nvSpPr>
        <p:spPr>
          <a:xfrm>
            <a:off x="201168" y="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Example: ATC Communication Analysis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5120640" cy="4206240"/>
          </a:xfrm>
          <a:prstGeom prst="rect">
            <a:avLst/>
          </a:prstGeom>
          <a:solidFill>
            <a:srgbClr val="111827"/>
          </a:solidFill>
          <a:ln w="12700">
            <a:solidFill>
              <a:srgbClr val="0F7EA3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" name="Text 4"/>
          <p:cNvSpPr/>
          <p:nvPr/>
        </p:nvSpPr>
        <p:spPr>
          <a:xfrm>
            <a:off x="411480" y="896112"/>
            <a:ext cx="48463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7B9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clustaudio </a:t>
            </a:r>
            <a:r>
              <a:rPr lang="en-US" sz="850" dirty="0">
                <a:solidFill>
                  <a:srgbClr val="17B9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Clustaudio
cl</a:t>
            </a:r>
            <a:r>
              <a:rPr lang="en-US" sz="850" dirty="0">
                <a:solidFill>
                  <a:srgbClr val="7B8F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850" dirty="0">
                <a:solidFill>
                  <a:srgbClr val="F484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Clustaudio</a:t>
            </a: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(method=</a:t>
            </a:r>
            <a:r>
              <a:rPr lang="en-US" sz="850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'mfcc'</a:t>
            </a: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sr=</a:t>
            </a:r>
            <a:r>
              <a:rPr lang="en-US" sz="850" dirty="0">
                <a:solidFill>
                  <a:srgbClr val="F484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16000</a:t>
            </a: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paths = cl.</a:t>
            </a:r>
            <a:r>
              <a:rPr lang="en-US" sz="850" dirty="0">
                <a:solidFill>
                  <a:srgbClr val="17B9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import_example</a:t>
            </a: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(data=</a:t>
            </a:r>
            <a:r>
              <a:rPr lang="en-US" sz="850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'atc'</a:t>
            </a: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r>
              <a:rPr lang="en-US" sz="850" dirty="0">
                <a:solidFill>
                  <a:srgbClr val="7B8F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1: Enhance noisy radio audio
</a:t>
            </a: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enhanced = cl.</a:t>
            </a:r>
            <a:r>
              <a:rPr lang="en-US" sz="850" dirty="0">
                <a:solidFill>
                  <a:srgbClr val="17B9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enhance_atc_audio</a:t>
            </a: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(paths, method=</a:t>
            </a:r>
            <a:r>
              <a:rPr lang="en-US" sz="850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'aggressive'</a:t>
            </a: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r>
              <a:rPr lang="en-US" sz="850" dirty="0">
                <a:solidFill>
                  <a:srgbClr val="7B8F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2: Separate voice from static
</a:t>
            </a: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separated = cl.</a:t>
            </a:r>
            <a:r>
              <a:rPr lang="en-US" sz="850" dirty="0">
                <a:solidFill>
                  <a:srgbClr val="17B9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separate_foreground_background</a:t>
            </a: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
    enhanced[</a:t>
            </a:r>
            <a:r>
              <a:rPr lang="en-US" sz="850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'pathnames_enhanced'</a:t>
            </a: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
</a:t>
            </a:r>
            <a:r>
              <a:rPr lang="en-US" sz="850" dirty="0">
                <a:solidFill>
                  <a:srgbClr val="7B8F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3: Extract voice segments
</a:t>
            </a: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segs = cl.</a:t>
            </a:r>
            <a:r>
              <a:rPr lang="en-US" sz="850" dirty="0">
                <a:solidFill>
                  <a:srgbClr val="17B9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extract_voice_segments</a:t>
            </a: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
    separated[</a:t>
            </a:r>
            <a:r>
              <a:rPr lang="en-US" sz="850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'pathnames_foreground'</a:t>
            </a: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method=</a:t>
            </a:r>
            <a:r>
              <a:rPr lang="en-US" sz="850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'energy'</a:t>
            </a: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r>
              <a:rPr lang="en-US" sz="850" dirty="0">
                <a:solidFill>
                  <a:srgbClr val="7B8F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4: Cluster communications
</a:t>
            </a: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all_segs = [p </a:t>
            </a:r>
            <a:r>
              <a:rPr lang="en-US" sz="850" dirty="0">
                <a:solidFill>
                  <a:srgbClr val="17B9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 </a:t>
            </a:r>
            <a:r>
              <a:rPr lang="en-US" sz="850" dirty="0">
                <a:solidFill>
                  <a:srgbClr val="17B9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segs[</a:t>
            </a:r>
            <a:r>
              <a:rPr lang="en-US" sz="850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'pathnames_segments'</a:t>
            </a: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</a:t>
            </a:r>
            <a:r>
              <a:rPr lang="en-US" sz="850" dirty="0">
                <a:solidFill>
                  <a:srgbClr val="17B9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 </a:t>
            </a:r>
            <a:r>
              <a:rPr lang="en-US" sz="850" dirty="0">
                <a:solidFill>
                  <a:srgbClr val="17B9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s]
results = cl.</a:t>
            </a:r>
            <a:r>
              <a:rPr lang="en-US" sz="850" dirty="0">
                <a:solidFill>
                  <a:srgbClr val="17B9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fit_transform</a:t>
            </a: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(all_segs, evaluate=</a:t>
            </a:r>
            <a:r>
              <a:rPr lang="en-US" sz="850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'silhouette'</a:t>
            </a: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r>
              <a:rPr lang="en-US" sz="850" dirty="0">
                <a:solidFill>
                  <a:srgbClr val="7B8F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5: Visualize &amp; organize
</a:t>
            </a: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cl.clusteval.</a:t>
            </a:r>
            <a:r>
              <a:rPr lang="en-US" sz="850" dirty="0">
                <a:solidFill>
                  <a:srgbClr val="17B9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scatter</a:t>
            </a: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(results[</a:t>
            </a:r>
            <a:r>
              <a:rPr lang="en-US" sz="850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'xycoord'</a:t>
            </a: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s=</a:t>
            </a:r>
            <a:r>
              <a:rPr lang="en-US" sz="850" dirty="0">
                <a:solidFill>
                  <a:srgbClr val="F484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</a:t>
            </a: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cl.</a:t>
            </a:r>
            <a:r>
              <a:rPr lang="en-US" sz="850" dirty="0">
                <a:solidFill>
                  <a:srgbClr val="17B9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move_to_dir</a:t>
            </a: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(create_playlists=</a:t>
            </a:r>
            <a:r>
              <a:rPr lang="en-US" sz="850" dirty="0">
                <a:solidFill>
                  <a:srgbClr val="F484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577840" y="914400"/>
            <a:ext cx="384048" cy="384048"/>
          </a:xfrm>
          <a:prstGeom prst="ellipse">
            <a:avLst/>
          </a:prstGeom>
          <a:solidFill>
            <a:srgbClr val="0F7EA3"/>
          </a:solidFill>
          <a:ln w="12700">
            <a:solidFill>
              <a:srgbClr val="0F7EA3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8" name="Text 6"/>
          <p:cNvSpPr/>
          <p:nvPr/>
        </p:nvSpPr>
        <p:spPr>
          <a:xfrm>
            <a:off x="5577840" y="914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053328" y="9144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B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 ATC Audio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053328" y="1207008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Band-pass + spectral subtraction for radio static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769864" y="1298448"/>
            <a:ext cx="0" cy="329184"/>
          </a:xfrm>
          <a:prstGeom prst="line">
            <a:avLst/>
          </a:prstGeom>
          <a:noFill/>
          <a:ln w="12700">
            <a:solidFill>
              <a:srgbClr val="0A5F7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2" name="Shape 10"/>
          <p:cNvSpPr/>
          <p:nvPr/>
        </p:nvSpPr>
        <p:spPr>
          <a:xfrm>
            <a:off x="5577840" y="1719072"/>
            <a:ext cx="384048" cy="384048"/>
          </a:xfrm>
          <a:prstGeom prst="ellipse">
            <a:avLst/>
          </a:prstGeom>
          <a:solidFill>
            <a:srgbClr val="0F7EA3"/>
          </a:solidFill>
          <a:ln w="12700">
            <a:solidFill>
              <a:srgbClr val="0F7EA3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3" name="Text 11"/>
          <p:cNvSpPr/>
          <p:nvPr/>
        </p:nvSpPr>
        <p:spPr>
          <a:xfrm>
            <a:off x="5577840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053328" y="171907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B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Signal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53328" y="201168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 voice from background noise via masking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769864" y="2103120"/>
            <a:ext cx="0" cy="329184"/>
          </a:xfrm>
          <a:prstGeom prst="line">
            <a:avLst/>
          </a:prstGeom>
          <a:noFill/>
          <a:ln w="12700">
            <a:solidFill>
              <a:srgbClr val="0A5F7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7" name="Shape 15"/>
          <p:cNvSpPr/>
          <p:nvPr/>
        </p:nvSpPr>
        <p:spPr>
          <a:xfrm>
            <a:off x="5577840" y="2523744"/>
            <a:ext cx="384048" cy="384048"/>
          </a:xfrm>
          <a:prstGeom prst="ellipse">
            <a:avLst/>
          </a:prstGeom>
          <a:solidFill>
            <a:srgbClr val="0F7EA3"/>
          </a:solidFill>
          <a:ln w="12700">
            <a:solidFill>
              <a:srgbClr val="0F7EA3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8" name="Text 16"/>
          <p:cNvSpPr/>
          <p:nvPr/>
        </p:nvSpPr>
        <p:spPr>
          <a:xfrm>
            <a:off x="5577840" y="2523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053328" y="252374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B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Voice Segments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053328" y="281635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and slice individual transmissions (VAD)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769864" y="2907792"/>
            <a:ext cx="0" cy="329184"/>
          </a:xfrm>
          <a:prstGeom prst="line">
            <a:avLst/>
          </a:prstGeom>
          <a:noFill/>
          <a:ln w="12700">
            <a:solidFill>
              <a:srgbClr val="0A5F7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2" name="Shape 20"/>
          <p:cNvSpPr/>
          <p:nvPr/>
        </p:nvSpPr>
        <p:spPr>
          <a:xfrm>
            <a:off x="5577840" y="3328416"/>
            <a:ext cx="384048" cy="384048"/>
          </a:xfrm>
          <a:prstGeom prst="ellipse">
            <a:avLst/>
          </a:prstGeom>
          <a:solidFill>
            <a:srgbClr val="0F7EA3"/>
          </a:solidFill>
          <a:ln w="12700">
            <a:solidFill>
              <a:srgbClr val="0F7EA3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3" name="Text 21"/>
          <p:cNvSpPr/>
          <p:nvPr/>
        </p:nvSpPr>
        <p:spPr>
          <a:xfrm>
            <a:off x="5577840" y="3328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053328" y="332841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B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&amp; Evaluate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053328" y="3621024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Silhouette-optimized agglomerative clustering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769864" y="3712464"/>
            <a:ext cx="0" cy="329184"/>
          </a:xfrm>
          <a:prstGeom prst="line">
            <a:avLst/>
          </a:prstGeom>
          <a:noFill/>
          <a:ln w="12700">
            <a:solidFill>
              <a:srgbClr val="0A5F7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7" name="Shape 25"/>
          <p:cNvSpPr/>
          <p:nvPr/>
        </p:nvSpPr>
        <p:spPr>
          <a:xfrm>
            <a:off x="5577840" y="4133088"/>
            <a:ext cx="384048" cy="384048"/>
          </a:xfrm>
          <a:prstGeom prst="ellipse">
            <a:avLst/>
          </a:prstGeom>
          <a:solidFill>
            <a:srgbClr val="0F7EA3"/>
          </a:solidFill>
          <a:ln w="12700">
            <a:solidFill>
              <a:srgbClr val="0F7EA3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8" name="Text 26"/>
          <p:cNvSpPr/>
          <p:nvPr/>
        </p:nvSpPr>
        <p:spPr>
          <a:xfrm>
            <a:off x="5577840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053328" y="413308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B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&amp; Organize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053328" y="4425696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plots, waveforms, playlist export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A5F7A"/>
          </a:solidFill>
          <a:ln w="12700">
            <a:solidFill>
              <a:srgbClr val="0A5F7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2" name="Text 30"/>
          <p:cNvSpPr/>
          <p:nvPr/>
        </p:nvSpPr>
        <p:spPr>
          <a:xfrm>
            <a:off x="182880" y="495604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clustaudio  |  Python Audio Clustering Library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94360"/>
          </a:xfrm>
          <a:prstGeom prst="rect">
            <a:avLst/>
          </a:prstGeom>
          <a:solidFill>
            <a:srgbClr val="17B9D8"/>
          </a:solidFill>
          <a:ln w="12700">
            <a:solidFill>
              <a:srgbClr val="17B9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" name="Text 2"/>
          <p:cNvSpPr/>
          <p:nvPr/>
        </p:nvSpPr>
        <p:spPr>
          <a:xfrm>
            <a:off x="201168" y="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Search &amp; Representative Samples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01168" y="5943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F7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find() and unique() — post-clustering intelligence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7" name="Text 5"/>
          <p:cNvSpPr/>
          <p:nvPr/>
        </p:nvSpPr>
        <p:spPr>
          <a:xfrm>
            <a:off x="182880" y="495604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clustaudio  |  Python Audio Clustering Library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320040" y="777240"/>
            <a:ext cx="402336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9" name="Shape 7"/>
          <p:cNvSpPr/>
          <p:nvPr/>
        </p:nvSpPr>
        <p:spPr>
          <a:xfrm>
            <a:off x="320040" y="777240"/>
            <a:ext cx="4023360" cy="41148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0" name="Text 8"/>
          <p:cNvSpPr/>
          <p:nvPr/>
        </p:nvSpPr>
        <p:spPr>
          <a:xfrm>
            <a:off x="457200" y="7772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find()  —  Similarity Search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1298448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5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audio file path or waveform array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1773936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5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modes: k-nearest neighbours (k=N) and probability threshold (alpha=0.05)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2249424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5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Adjacency matrix computed via Euclidean or cosine distance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2724912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5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significance: fits norm/expon/gamma distributions to similarity scores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3200400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5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Returns: ranked file list, cluster labels, probabilities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3675888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5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Plot: cl.plot_find() to visualize matched audio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777240"/>
            <a:ext cx="416052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8" name="Shape 16"/>
          <p:cNvSpPr/>
          <p:nvPr/>
        </p:nvSpPr>
        <p:spPr>
          <a:xfrm>
            <a:off x="4663440" y="777240"/>
            <a:ext cx="4160520" cy="411480"/>
          </a:xfrm>
          <a:prstGeom prst="rect">
            <a:avLst/>
          </a:prstGeom>
          <a:solidFill>
            <a:srgbClr val="0F7EA3"/>
          </a:solidFill>
          <a:ln w="12700">
            <a:solidFill>
              <a:srgbClr val="0F7EA3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9" name="Text 17"/>
          <p:cNvSpPr/>
          <p:nvPr/>
        </p:nvSpPr>
        <p:spPr>
          <a:xfrm>
            <a:off x="4800600" y="7772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unique()  —  Representative Samples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00600" y="1298448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7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5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single most representative audio file per cluster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00600" y="1773936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7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5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as the file closest to the cluster centroid in feature space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00600" y="2249424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7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5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 auditing clusters without listening to every file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00600" y="2724912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7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5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any distance metric (Euclidean, cosine, manhattan)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00600" y="3200400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7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5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cl.results_unique — index, coordinates, pathnames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00600" y="3675888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7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5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Visualization: cl.plot_unique(show_waveform=True)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94360"/>
          </a:xfrm>
          <a:prstGeom prst="rect">
            <a:avLst/>
          </a:prstGeom>
          <a:solidFill>
            <a:srgbClr val="17B9D8"/>
          </a:solidFill>
          <a:ln w="12700">
            <a:solidFill>
              <a:srgbClr val="17B9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" name="Text 2"/>
          <p:cNvSpPr/>
          <p:nvPr/>
        </p:nvSpPr>
        <p:spPr>
          <a:xfrm>
            <a:off x="201168" y="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&amp; Exploration Tools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01168" y="5943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F7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visual feedback for every stage of the pipeline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7" name="Text 5"/>
          <p:cNvSpPr/>
          <p:nvPr/>
        </p:nvSpPr>
        <p:spPr>
          <a:xfrm>
            <a:off x="182880" y="495604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clustaudio  |  Python Audio Clustering Library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320040" y="804672"/>
            <a:ext cx="2697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9" name="Shape 7"/>
          <p:cNvSpPr/>
          <p:nvPr/>
        </p:nvSpPr>
        <p:spPr>
          <a:xfrm>
            <a:off x="320040" y="804672"/>
            <a:ext cx="73152" cy="1737360"/>
          </a:xfrm>
          <a:prstGeom prst="rect">
            <a:avLst/>
          </a:prstGeom>
          <a:solidFill>
            <a:srgbClr val="0F7EA3"/>
          </a:solidFill>
          <a:ln w="12700">
            <a:solidFill>
              <a:srgbClr val="0F7EA3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0" name="Text 8"/>
          <p:cNvSpPr/>
          <p:nvPr/>
        </p:nvSpPr>
        <p:spPr>
          <a:xfrm>
            <a:off x="502920" y="91440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Plot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128016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t-SNE/UMAP 2D embedding with cluster color labels. Supports zoom for audio preview.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2157984"/>
            <a:ext cx="2423160" cy="256032"/>
          </a:xfrm>
          <a:prstGeom prst="rect">
            <a:avLst/>
          </a:prstGeom>
          <a:solidFill>
            <a:srgbClr val="E8F4F8"/>
          </a:solidFill>
          <a:ln w="12700">
            <a:solidFill>
              <a:srgbClr val="C8D8E4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3" name="Text 11"/>
          <p:cNvSpPr/>
          <p:nvPr/>
        </p:nvSpPr>
        <p:spPr>
          <a:xfrm>
            <a:off x="502920" y="215798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A5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cl.clusteval.scatter(xycoord, s=200)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0" y="804672"/>
            <a:ext cx="2697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5" name="Shape 13"/>
          <p:cNvSpPr/>
          <p:nvPr/>
        </p:nvSpPr>
        <p:spPr>
          <a:xfrm>
            <a:off x="3200400" y="804672"/>
            <a:ext cx="73152" cy="17373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6" name="Text 14"/>
          <p:cNvSpPr/>
          <p:nvPr/>
        </p:nvSpPr>
        <p:spPr>
          <a:xfrm>
            <a:off x="3383280" y="91440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Evaluation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383280" y="128016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scores per K. DBindex curve. Shows optimal cluster count clearly.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383280" y="2157984"/>
            <a:ext cx="2423160" cy="256032"/>
          </a:xfrm>
          <a:prstGeom prst="rect">
            <a:avLst/>
          </a:prstGeom>
          <a:solidFill>
            <a:srgbClr val="E8F4F8"/>
          </a:solidFill>
          <a:ln w="12700">
            <a:solidFill>
              <a:srgbClr val="C8D8E4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9" name="Text 17"/>
          <p:cNvSpPr/>
          <p:nvPr/>
        </p:nvSpPr>
        <p:spPr>
          <a:xfrm>
            <a:off x="3383280" y="215798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A5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cl.clusteval.plot()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080760" y="804672"/>
            <a:ext cx="2697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21" name="Shape 19"/>
          <p:cNvSpPr/>
          <p:nvPr/>
        </p:nvSpPr>
        <p:spPr>
          <a:xfrm>
            <a:off x="6080760" y="804672"/>
            <a:ext cx="73152" cy="1737360"/>
          </a:xfrm>
          <a:prstGeom prst="rect">
            <a:avLst/>
          </a:prstGeom>
          <a:solidFill>
            <a:srgbClr val="0A5F7A"/>
          </a:solidFill>
          <a:ln w="12700">
            <a:solidFill>
              <a:srgbClr val="0A5F7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2" name="Text 20"/>
          <p:cNvSpPr/>
          <p:nvPr/>
        </p:nvSpPr>
        <p:spPr>
          <a:xfrm>
            <a:off x="6263640" y="91440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Dendrogram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263640" y="128016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cluster tree. Cut at max_d to manually adjust number of clusters.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63640" y="2157984"/>
            <a:ext cx="2423160" cy="256032"/>
          </a:xfrm>
          <a:prstGeom prst="rect">
            <a:avLst/>
          </a:prstGeom>
          <a:solidFill>
            <a:srgbClr val="E8F4F8"/>
          </a:solidFill>
          <a:ln w="12700">
            <a:solidFill>
              <a:srgbClr val="C8D8E4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5" name="Text 23"/>
          <p:cNvSpPr/>
          <p:nvPr/>
        </p:nvSpPr>
        <p:spPr>
          <a:xfrm>
            <a:off x="6263640" y="215798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A5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cl.dendrogram(max_d=60000)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0040" y="2679192"/>
            <a:ext cx="2697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27" name="Shape 25"/>
          <p:cNvSpPr/>
          <p:nvPr/>
        </p:nvSpPr>
        <p:spPr>
          <a:xfrm>
            <a:off x="320040" y="2679192"/>
            <a:ext cx="73152" cy="1737360"/>
          </a:xfrm>
          <a:prstGeom prst="rect">
            <a:avLst/>
          </a:prstGeom>
          <a:solidFill>
            <a:srgbClr val="0F7EA3"/>
          </a:solidFill>
          <a:ln w="12700">
            <a:solidFill>
              <a:srgbClr val="0F7EA3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8" name="Text 26"/>
          <p:cNvSpPr/>
          <p:nvPr/>
        </p:nvSpPr>
        <p:spPr>
          <a:xfrm>
            <a:off x="502920" y="278892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Waveform &amp; Spectrogram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02920" y="315468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Per-cluster audio waveforms and spectrograms side-by-side for inspection.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02920" y="4032504"/>
            <a:ext cx="2423160" cy="256032"/>
          </a:xfrm>
          <a:prstGeom prst="rect">
            <a:avLst/>
          </a:prstGeom>
          <a:solidFill>
            <a:srgbClr val="E8F4F8"/>
          </a:solidFill>
          <a:ln w="12700">
            <a:solidFill>
              <a:srgbClr val="C8D8E4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1" name="Text 29"/>
          <p:cNvSpPr/>
          <p:nvPr/>
        </p:nvSpPr>
        <p:spPr>
          <a:xfrm>
            <a:off x="502920" y="403250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A5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cl.plot(labels=[0,1], show_spectrogram=True)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200400" y="2679192"/>
            <a:ext cx="2697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33" name="Shape 31"/>
          <p:cNvSpPr/>
          <p:nvPr/>
        </p:nvSpPr>
        <p:spPr>
          <a:xfrm>
            <a:off x="3200400" y="2679192"/>
            <a:ext cx="73152" cy="17373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4" name="Text 32"/>
          <p:cNvSpPr/>
          <p:nvPr/>
        </p:nvSpPr>
        <p:spPr>
          <a:xfrm>
            <a:off x="3383280" y="278892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Denoise Comparison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3383280" y="315468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Before/after waveform overlays with SNR improvement metrics per file.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383280" y="4032504"/>
            <a:ext cx="2423160" cy="256032"/>
          </a:xfrm>
          <a:prstGeom prst="rect">
            <a:avLst/>
          </a:prstGeom>
          <a:solidFill>
            <a:srgbClr val="E8F4F8"/>
          </a:solidFill>
          <a:ln w="12700">
            <a:solidFill>
              <a:srgbClr val="C8D8E4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7" name="Text 35"/>
          <p:cNvSpPr/>
          <p:nvPr/>
        </p:nvSpPr>
        <p:spPr>
          <a:xfrm>
            <a:off x="3383280" y="403250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A5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cl.plot_denoise(index=0)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080760" y="2679192"/>
            <a:ext cx="2697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39" name="Shape 37"/>
          <p:cNvSpPr/>
          <p:nvPr/>
        </p:nvSpPr>
        <p:spPr>
          <a:xfrm>
            <a:off x="6080760" y="2679192"/>
            <a:ext cx="73152" cy="1737360"/>
          </a:xfrm>
          <a:prstGeom prst="rect">
            <a:avLst/>
          </a:prstGeom>
          <a:solidFill>
            <a:srgbClr val="0A5F7A"/>
          </a:solidFill>
          <a:ln w="12700">
            <a:solidFill>
              <a:srgbClr val="0A5F7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0" name="Text 38"/>
          <p:cNvSpPr/>
          <p:nvPr/>
        </p:nvSpPr>
        <p:spPr>
          <a:xfrm>
            <a:off x="6263640" y="278892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Statistics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6263640" y="315468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distributions, segment counts, cluster sizes — comprehensive overview.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263640" y="4032504"/>
            <a:ext cx="2423160" cy="256032"/>
          </a:xfrm>
          <a:prstGeom prst="rect">
            <a:avLst/>
          </a:prstGeom>
          <a:solidFill>
            <a:srgbClr val="E8F4F8"/>
          </a:solidFill>
          <a:ln w="12700">
            <a:solidFill>
              <a:srgbClr val="C8D8E4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3" name="Text 41"/>
          <p:cNvSpPr/>
          <p:nvPr/>
        </p:nvSpPr>
        <p:spPr>
          <a:xfrm>
            <a:off x="6263640" y="403250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A5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cl.plot_statistics()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94360"/>
          </a:xfrm>
          <a:prstGeom prst="rect">
            <a:avLst/>
          </a:prstGeom>
          <a:solidFill>
            <a:srgbClr val="17B9D8"/>
          </a:solidFill>
          <a:ln w="12700">
            <a:solidFill>
              <a:srgbClr val="17B9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" name="Text 2"/>
          <p:cNvSpPr/>
          <p:nvPr/>
        </p:nvSpPr>
        <p:spPr>
          <a:xfrm>
            <a:off x="201168" y="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Start — 5 Lines to First Clusters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01168" y="5943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F7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out of the box with example datasets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7" name="Text 5"/>
          <p:cNvSpPr/>
          <p:nvPr/>
        </p:nvSpPr>
        <p:spPr>
          <a:xfrm>
            <a:off x="182880" y="495604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clustaudio  |  Python Audio Clustering Library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365760" y="777240"/>
            <a:ext cx="8412480" cy="43891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7B9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pip install clustaudio           # core   |   $ pip install clustaudio[advanced]  # + VAD, denoising, metadata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353312"/>
            <a:ext cx="4160520" cy="3337560"/>
          </a:xfrm>
          <a:prstGeom prst="rect">
            <a:avLst/>
          </a:prstGeom>
          <a:solidFill>
            <a:srgbClr val="111827"/>
          </a:solidFill>
          <a:ln w="12700">
            <a:solidFill>
              <a:srgbClr val="0F7EA3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1" name="Text 9"/>
          <p:cNvSpPr/>
          <p:nvPr/>
        </p:nvSpPr>
        <p:spPr>
          <a:xfrm>
            <a:off x="365760" y="1353312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B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Clustering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" y="1737360"/>
            <a:ext cx="39319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7B9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clustaudio </a:t>
            </a:r>
            <a:r>
              <a:rPr lang="en-US" sz="950" dirty="0">
                <a:solidFill>
                  <a:srgbClr val="17B9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Clustaudio
cl</a:t>
            </a:r>
            <a:r>
              <a:rPr lang="en-US" sz="950" dirty="0">
                <a:solidFill>
                  <a:srgbClr val="7B8F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950" dirty="0">
                <a:solidFill>
                  <a:srgbClr val="F484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Clustaudio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(method=</a:t>
            </a:r>
            <a:r>
              <a:rPr lang="en-US" sz="950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'mfcc'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sr=</a:t>
            </a:r>
            <a:r>
              <a:rPr lang="en-US" sz="950" dirty="0">
                <a:solidFill>
                  <a:srgbClr val="F484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22050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paths = cl.</a:t>
            </a:r>
            <a:r>
              <a:rPr lang="en-US" sz="950" dirty="0">
                <a:solidFill>
                  <a:srgbClr val="17B9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import_example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(data=</a:t>
            </a:r>
            <a:r>
              <a:rPr lang="en-US" sz="950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'various'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results = cl.</a:t>
            </a:r>
            <a:r>
              <a:rPr lang="en-US" sz="950" dirty="0">
                <a:solidFill>
                  <a:srgbClr val="17B9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fit_transform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(paths)
</a:t>
            </a:r>
            <a:r>
              <a:rPr lang="en-US" sz="950" dirty="0">
                <a:solidFill>
                  <a:srgbClr val="7B8F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Visualize
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cl.clusteval.</a:t>
            </a:r>
            <a:r>
              <a:rPr lang="en-US" sz="950" dirty="0">
                <a:solidFill>
                  <a:srgbClr val="17B9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scatter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(results[</a:t>
            </a:r>
            <a:r>
              <a:rPr lang="en-US" sz="950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'xycoord'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s=</a:t>
            </a:r>
            <a:r>
              <a:rPr lang="en-US" sz="950" dirty="0">
                <a:solidFill>
                  <a:srgbClr val="F484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cl.</a:t>
            </a:r>
            <a:r>
              <a:rPr lang="en-US" sz="950" dirty="0">
                <a:solidFill>
                  <a:srgbClr val="17B9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plot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(labels=[</a:t>
            </a:r>
            <a:r>
              <a:rPr lang="en-US" sz="950" dirty="0">
                <a:solidFill>
                  <a:srgbClr val="F484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950" dirty="0">
                <a:solidFill>
                  <a:srgbClr val="F484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show_waveform=</a:t>
            </a:r>
            <a:r>
              <a:rPr lang="en-US" sz="950" dirty="0">
                <a:solidFill>
                  <a:srgbClr val="F484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r>
              <a:rPr lang="en-US" sz="950" dirty="0">
                <a:solidFill>
                  <a:srgbClr val="7B8F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Find similar audio
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similar = cl.</a:t>
            </a:r>
            <a:r>
              <a:rPr lang="en-US" sz="950" dirty="0">
                <a:solidFill>
                  <a:srgbClr val="17B9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(paths[</a:t>
            </a:r>
            <a:r>
              <a:rPr lang="en-US" sz="950" dirty="0">
                <a:solidFill>
                  <a:srgbClr val="F484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k=</a:t>
            </a:r>
            <a:r>
              <a:rPr lang="en-US" sz="950" dirty="0">
                <a:solidFill>
                  <a:srgbClr val="F484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r>
              <a:rPr lang="en-US" sz="950" dirty="0">
                <a:solidFill>
                  <a:srgbClr val="7B8F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Organize files
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cl.</a:t>
            </a:r>
            <a:r>
              <a:rPr lang="en-US" sz="950" dirty="0">
                <a:solidFill>
                  <a:srgbClr val="17B9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move_to_dir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(create_playlists=</a:t>
            </a:r>
            <a:r>
              <a:rPr lang="en-US" sz="950" dirty="0">
                <a:solidFill>
                  <a:srgbClr val="F484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17720" y="1353312"/>
            <a:ext cx="4160520" cy="3337560"/>
          </a:xfrm>
          <a:prstGeom prst="rect">
            <a:avLst/>
          </a:prstGeom>
          <a:solidFill>
            <a:srgbClr val="111827"/>
          </a:solidFill>
          <a:ln w="12700">
            <a:solidFill>
              <a:srgbClr val="F4845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4" name="Text 12"/>
          <p:cNvSpPr/>
          <p:nvPr/>
        </p:nvSpPr>
        <p:spPr>
          <a:xfrm>
            <a:off x="4617720" y="1353312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8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Advanced: Music Recommendation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36592" y="1737360"/>
            <a:ext cx="39319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B8F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Combined features for music
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</a:t>
            </a:r>
            <a:r>
              <a:rPr lang="en-US" sz="950" dirty="0">
                <a:solidFill>
                  <a:srgbClr val="7B8F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950" dirty="0">
                <a:solidFill>
                  <a:srgbClr val="F484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Clustaudio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(method=</a:t>
            </a:r>
            <a:r>
              <a:rPr lang="en-US" sz="950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'mfcc-spectral'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                   sr=</a:t>
            </a:r>
            <a:r>
              <a:rPr lang="en-US" sz="950" dirty="0">
                <a:solidFill>
                  <a:srgbClr val="F484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22050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r>
              <a:rPr lang="en-US" sz="950" dirty="0">
                <a:solidFill>
                  <a:srgbClr val="7B8F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Cluster your music library
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 = cl.</a:t>
            </a:r>
            <a:r>
              <a:rPr lang="en-US" sz="950" dirty="0">
                <a:solidFill>
                  <a:srgbClr val="17B9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fit_transform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
</a:t>
            </a:r>
            <a:r>
              <a:rPr lang="en-US" sz="950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'/music/library/',
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evaluate=</a:t>
            </a:r>
            <a:r>
              <a:rPr lang="en-US" sz="950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'silhouette'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    min_clust=</a:t>
            </a:r>
            <a:r>
              <a:rPr lang="en-US" sz="950" dirty="0">
                <a:solidFill>
                  <a:srgbClr val="F484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max_clust=</a:t>
            </a:r>
            <a:r>
              <a:rPr lang="en-US" sz="950" dirty="0">
                <a:solidFill>
                  <a:srgbClr val="F484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r>
              <a:rPr lang="en-US" sz="950" dirty="0">
                <a:solidFill>
                  <a:srgbClr val="7B8F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Recommend songs
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recs = cl.</a:t>
            </a:r>
            <a:r>
              <a:rPr lang="en-US" sz="950" dirty="0">
                <a:solidFill>
                  <a:srgbClr val="17B9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(favorite, k=</a:t>
            </a:r>
            <a:r>
              <a:rPr lang="en-US" sz="950" dirty="0">
                <a:solidFill>
                  <a:srgbClr val="F484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alpha=</a:t>
            </a:r>
            <a:r>
              <a:rPr lang="en-US" sz="950" dirty="0">
                <a:solidFill>
                  <a:srgbClr val="F484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0.05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r>
              <a:rPr lang="en-US" sz="950" dirty="0">
                <a:solidFill>
                  <a:srgbClr val="7B8F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Generate playlists
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cl.</a:t>
            </a:r>
            <a:r>
              <a:rPr lang="en-US" sz="950" dirty="0">
                <a:solidFill>
                  <a:srgbClr val="17B9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create_playlist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
    format=</a:t>
            </a:r>
            <a:r>
              <a:rPr lang="en-US" sz="950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'm3u8'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    savedir=</a:t>
            </a:r>
            <a:r>
              <a:rPr lang="en-US" sz="950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'/playlists/'</a:t>
            </a: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94360"/>
          </a:xfrm>
          <a:prstGeom prst="rect">
            <a:avLst/>
          </a:prstGeom>
          <a:solidFill>
            <a:srgbClr val="17B9D8"/>
          </a:solidFill>
          <a:ln w="12700">
            <a:solidFill>
              <a:srgbClr val="17B9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" name="Text 2"/>
          <p:cNvSpPr/>
          <p:nvPr/>
        </p:nvSpPr>
        <p:spPr>
          <a:xfrm>
            <a:off x="201168" y="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clustaudio vs clustimage — Same Paradigm, Different Domain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01168" y="5943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F7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Familiar API for users of the clustimage library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7" name="Text 5"/>
          <p:cNvSpPr/>
          <p:nvPr/>
        </p:nvSpPr>
        <p:spPr>
          <a:xfrm>
            <a:off x="182880" y="495604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clustaudio  |  Python Audio Clustering Library</a:t>
            </a:r>
            <a:endParaRPr lang="en-US" sz="7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804672"/>
          <a:ext cx="8138160" cy="402336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clustimage  (Images)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clustaudio  (Audio)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F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Feature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7B8F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PCA, HOG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7B8F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MFCC, Spectral, Chroma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 Detection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7B8F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Perceptual hash (ahash…)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7B8F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Audio fingerprinting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Metadata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7B8F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EXIF: datetime, GPS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7B8F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ID3/Vorbis: artist, album, genre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Advanced Processing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7B8F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Face detection &amp; extraction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7B8F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VAD, Denoising, Separation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Formats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7B8F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PNG, JPG, TIFF, HEIF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7B8F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WAV, MP3, FLAC, OGG, M4A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Similarity Search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7B8F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k-NN + probabilistic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7B8F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k-NN + probabilistic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Samples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7B8F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Cluster centroid files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7B8F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Cluster centroid files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7B8F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Same clusteval methods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7B8F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Same clusteval methods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Organization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7B8F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 to dir by cluster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7B8F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 to dir + playlist export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94360"/>
          </a:xfrm>
          <a:prstGeom prst="rect">
            <a:avLst/>
          </a:prstGeom>
          <a:solidFill>
            <a:srgbClr val="17B9D8"/>
          </a:solidFill>
          <a:ln w="12700">
            <a:solidFill>
              <a:srgbClr val="17B9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" name="Text 2"/>
          <p:cNvSpPr/>
          <p:nvPr/>
        </p:nvSpPr>
        <p:spPr>
          <a:xfrm>
            <a:off x="201168" y="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&amp; Requirements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01168" y="5943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F7E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core dependencies — advanced features available optionally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7" name="Text 5"/>
          <p:cNvSpPr/>
          <p:nvPr/>
        </p:nvSpPr>
        <p:spPr>
          <a:xfrm>
            <a:off x="182880" y="495604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clustaudio  |  Python Audio Clustering Library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320040" y="804672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9" name="Shape 7"/>
          <p:cNvSpPr/>
          <p:nvPr/>
        </p:nvSpPr>
        <p:spPr>
          <a:xfrm>
            <a:off x="320040" y="804672"/>
            <a:ext cx="2697480" cy="34747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0" name="Text 8"/>
          <p:cNvSpPr/>
          <p:nvPr/>
        </p:nvSpPr>
        <p:spPr>
          <a:xfrm>
            <a:off x="457200" y="80467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Install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207008"/>
            <a:ext cx="2423160" cy="292608"/>
          </a:xfrm>
          <a:prstGeom prst="rect">
            <a:avLst/>
          </a:prstGeom>
          <a:solidFill>
            <a:srgbClr val="E8F4F8"/>
          </a:solidFill>
          <a:ln w="12700">
            <a:solidFill>
              <a:srgbClr val="C8D8E4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2" name="Text 10"/>
          <p:cNvSpPr/>
          <p:nvPr/>
        </p:nvSpPr>
        <p:spPr>
          <a:xfrm>
            <a:off x="457200" y="120700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5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clustaudio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1554480"/>
            <a:ext cx="2423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MFCC, Spectral, Chroma, Clustering, Similarity search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172968" y="804672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5" name="Shape 13"/>
          <p:cNvSpPr/>
          <p:nvPr/>
        </p:nvSpPr>
        <p:spPr>
          <a:xfrm>
            <a:off x="3172968" y="804672"/>
            <a:ext cx="2697480" cy="34747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6" name="Text 14"/>
          <p:cNvSpPr/>
          <p:nvPr/>
        </p:nvSpPr>
        <p:spPr>
          <a:xfrm>
            <a:off x="3310128" y="80467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Install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310128" y="1207008"/>
            <a:ext cx="2423160" cy="292608"/>
          </a:xfrm>
          <a:prstGeom prst="rect">
            <a:avLst/>
          </a:prstGeom>
          <a:solidFill>
            <a:srgbClr val="E8F4F8"/>
          </a:solidFill>
          <a:ln w="12700">
            <a:solidFill>
              <a:srgbClr val="C8D8E4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8" name="Text 16"/>
          <p:cNvSpPr/>
          <p:nvPr/>
        </p:nvSpPr>
        <p:spPr>
          <a:xfrm>
            <a:off x="3310128" y="120700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5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clustaudio[advanced]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310128" y="1554480"/>
            <a:ext cx="2423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Adds: VAD (WebRTC), Denoising (noisereduce), Metadata (mutagen), Fingerprinting (pyacoustid)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025896" y="804672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21" name="Shape 19"/>
          <p:cNvSpPr/>
          <p:nvPr/>
        </p:nvSpPr>
        <p:spPr>
          <a:xfrm>
            <a:off x="6025896" y="804672"/>
            <a:ext cx="2697480" cy="34747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2" name="Text 20"/>
          <p:cNvSpPr/>
          <p:nvPr/>
        </p:nvSpPr>
        <p:spPr>
          <a:xfrm>
            <a:off x="6163056" y="80467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63056" y="1207008"/>
            <a:ext cx="2423160" cy="292608"/>
          </a:xfrm>
          <a:prstGeom prst="rect">
            <a:avLst/>
          </a:prstGeom>
          <a:solidFill>
            <a:srgbClr val="E8F4F8"/>
          </a:solidFill>
          <a:ln w="12700">
            <a:solidFill>
              <a:srgbClr val="C8D8E4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4" name="Text 22"/>
          <p:cNvSpPr/>
          <p:nvPr/>
        </p:nvSpPr>
        <p:spPr>
          <a:xfrm>
            <a:off x="6163056" y="120700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A5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-U clustaudio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163056" y="1554480"/>
            <a:ext cx="2423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stay on the latest version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20040" y="23317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Dependencies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663440" y="23317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(Advanced)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20040" y="2743200"/>
            <a:ext cx="42062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4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9" name="Text 27"/>
          <p:cNvSpPr/>
          <p:nvPr/>
        </p:nvSpPr>
        <p:spPr>
          <a:xfrm>
            <a:off x="411480" y="2743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librosa ≥ 0.10.0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103120" y="2743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loading, feature extraction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20040" y="3035808"/>
            <a:ext cx="4206240" cy="274320"/>
          </a:xfrm>
          <a:prstGeom prst="rect">
            <a:avLst/>
          </a:prstGeom>
          <a:solidFill>
            <a:srgbClr val="F0F6FA"/>
          </a:solidFill>
          <a:ln w="12700">
            <a:solidFill>
              <a:srgbClr val="C8D8E4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2" name="Text 30"/>
          <p:cNvSpPr/>
          <p:nvPr/>
        </p:nvSpPr>
        <p:spPr>
          <a:xfrm>
            <a:off x="411480" y="30358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soundfile ≥ 0.12.0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103120" y="30358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WAV/FLAC read/write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0040" y="3328416"/>
            <a:ext cx="42062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4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5" name="Text 33"/>
          <p:cNvSpPr/>
          <p:nvPr/>
        </p:nvSpPr>
        <p:spPr>
          <a:xfrm>
            <a:off x="411480" y="332841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scikit-learn ≥ 1.0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103120" y="332841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algorithms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20040" y="3621024"/>
            <a:ext cx="4206240" cy="274320"/>
          </a:xfrm>
          <a:prstGeom prst="rect">
            <a:avLst/>
          </a:prstGeom>
          <a:solidFill>
            <a:srgbClr val="F0F6FA"/>
          </a:solidFill>
          <a:ln w="12700">
            <a:solidFill>
              <a:srgbClr val="C8D8E4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8" name="Text 36"/>
          <p:cNvSpPr/>
          <p:nvPr/>
        </p:nvSpPr>
        <p:spPr>
          <a:xfrm>
            <a:off x="411480" y="362102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clusteval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103120" y="36210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evaluation (silhouette, DBindex)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20040" y="3913632"/>
            <a:ext cx="42062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4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1" name="Text 39"/>
          <p:cNvSpPr/>
          <p:nvPr/>
        </p:nvSpPr>
        <p:spPr>
          <a:xfrm>
            <a:off x="411480" y="39136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pca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103120" y="39136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Dimensionality reduction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20040" y="4206240"/>
            <a:ext cx="4206240" cy="274320"/>
          </a:xfrm>
          <a:prstGeom prst="rect">
            <a:avLst/>
          </a:prstGeom>
          <a:solidFill>
            <a:srgbClr val="F0F6FA"/>
          </a:solidFill>
          <a:ln w="12700">
            <a:solidFill>
              <a:srgbClr val="C8D8E4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4" name="Text 42"/>
          <p:cNvSpPr/>
          <p:nvPr/>
        </p:nvSpPr>
        <p:spPr>
          <a:xfrm>
            <a:off x="411480" y="4206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numpy, pandas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2103120" y="4206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and data operations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20040" y="4498848"/>
            <a:ext cx="42062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4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47" name="Text 45"/>
          <p:cNvSpPr/>
          <p:nvPr/>
        </p:nvSpPr>
        <p:spPr>
          <a:xfrm>
            <a:off x="411480" y="44988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matplotlib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2103120" y="44988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Plotting and visualization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663440" y="2743200"/>
            <a:ext cx="41148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4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50" name="Text 48"/>
          <p:cNvSpPr/>
          <p:nvPr/>
        </p:nvSpPr>
        <p:spPr>
          <a:xfrm>
            <a:off x="4754880" y="27432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5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noisereduce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355080" y="2743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ML-based noise reduction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663440" y="3035808"/>
            <a:ext cx="4114800" cy="274320"/>
          </a:xfrm>
          <a:prstGeom prst="rect">
            <a:avLst/>
          </a:prstGeom>
          <a:solidFill>
            <a:srgbClr val="F0F6FA"/>
          </a:solidFill>
          <a:ln w="12700">
            <a:solidFill>
              <a:srgbClr val="C8D8E4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53" name="Text 51"/>
          <p:cNvSpPr/>
          <p:nvPr/>
        </p:nvSpPr>
        <p:spPr>
          <a:xfrm>
            <a:off x="4754880" y="303580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5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webrtcvad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355080" y="30358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WebRTC Voice Activity Detection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663440" y="3328416"/>
            <a:ext cx="41148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4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56" name="Text 54"/>
          <p:cNvSpPr/>
          <p:nvPr/>
        </p:nvSpPr>
        <p:spPr>
          <a:xfrm>
            <a:off x="4754880" y="332841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5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mutagen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355080" y="332841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ID3, Vorbis, MP4 metadata extraction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663440" y="3621024"/>
            <a:ext cx="4114800" cy="274320"/>
          </a:xfrm>
          <a:prstGeom prst="rect">
            <a:avLst/>
          </a:prstGeom>
          <a:solidFill>
            <a:srgbClr val="F0F6FA"/>
          </a:solidFill>
          <a:ln w="12700">
            <a:solidFill>
              <a:srgbClr val="C8D8E4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59" name="Text 57"/>
          <p:cNvSpPr/>
          <p:nvPr/>
        </p:nvSpPr>
        <p:spPr>
          <a:xfrm>
            <a:off x="4754880" y="362102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5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pyacoustid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6355080" y="36210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fingerprinting (Chromaprint)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4663440" y="3913632"/>
            <a:ext cx="41148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4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2" name="Text 60"/>
          <p:cNvSpPr/>
          <p:nvPr/>
        </p:nvSpPr>
        <p:spPr>
          <a:xfrm>
            <a:off x="4754880" y="39136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5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umap-learn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6355080" y="39136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UMAP dimensionality reduction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320040" y="4681728"/>
            <a:ext cx="8458200" cy="182880"/>
          </a:xfrm>
          <a:prstGeom prst="rect">
            <a:avLst/>
          </a:prstGeom>
          <a:solidFill>
            <a:srgbClr val="E8F4F8"/>
          </a:solidFill>
          <a:ln w="12700">
            <a:solidFill>
              <a:srgbClr val="C8D8E4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65" name="Text 63"/>
          <p:cNvSpPr/>
          <p:nvPr/>
        </p:nvSpPr>
        <p:spPr>
          <a:xfrm>
            <a:off x="457200" y="468172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≥ 3.8  |  Tested on 3.8, 3.10, 3.12  |  Linux, macOS, Windows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7B9D8"/>
          </a:solidFill>
          <a:ln w="12700">
            <a:solidFill>
              <a:srgbClr val="17B9D8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3" name="Text 1"/>
          <p:cNvSpPr/>
          <p:nvPr/>
        </p:nvSpPr>
        <p:spPr>
          <a:xfrm>
            <a:off x="365760" y="5486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Started with clustaudio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1261872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17B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labels. No supervision. Just insights.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920240"/>
            <a:ext cx="2651760" cy="1280160"/>
          </a:xfrm>
          <a:prstGeom prst="rect">
            <a:avLst/>
          </a:prstGeom>
          <a:solidFill>
            <a:srgbClr val="0A5F7A"/>
          </a:solidFill>
          <a:ln w="12700">
            <a:solidFill>
              <a:srgbClr val="0A5F7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084832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208483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548640" y="257860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clustaudio[advanced]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73552" y="1920240"/>
            <a:ext cx="2651760" cy="12801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6432" y="2084832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959352" y="208483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3456432" y="257860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erdogant.github.io/clustaudio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181344" y="1920240"/>
            <a:ext cx="2651760" cy="1280160"/>
          </a:xfrm>
          <a:prstGeom prst="rect">
            <a:avLst/>
          </a:prstGeom>
          <a:solidFill>
            <a:srgbClr val="0A5F7A"/>
          </a:solidFill>
          <a:ln w="12700">
            <a:solidFill>
              <a:srgbClr val="0A5F7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4224" y="2084832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867144" y="208483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&amp; Cite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6364224" y="257860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github.com/erdogant/clustaudio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365760" y="3383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B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5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— no labelled data needed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365760" y="3685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B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5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pipeline: load → denoise → VAD → features → cluster → organize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365760" y="39867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B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5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music, speech, ATC, environmental sounds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365760" y="428853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B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5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Familiar API — same paradigm as clustimage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365760" y="45902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B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5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License — free for research and commercial use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solidFill>
            <a:srgbClr val="0A5F7A"/>
          </a:solidFill>
          <a:ln w="12700">
            <a:solidFill>
              <a:srgbClr val="0A5F7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3" name="Text 18"/>
          <p:cNvSpPr/>
          <p:nvPr/>
        </p:nvSpPr>
        <p:spPr>
          <a:xfrm>
            <a:off x="182880" y="4919472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with ♥ by Erdogan Taskesen  |  DOI: 10.5281/zenodo.clustaudio  |  MIT License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2023</Words>
  <Application>Microsoft Office PowerPoint</Application>
  <PresentationFormat>On-screen Show (16:9)</PresentationFormat>
  <Paragraphs>297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clustaudio - Python Audio Clustering Library</dc:title>
  <dc:subject>PptxGenJS Presentation</dc:subject>
  <dc:creator>Erdogan Taskesen</dc:creator>
  <cp:lastModifiedBy>E T</cp:lastModifiedBy>
  <cp:revision>1</cp:revision>
  <dcterms:created xsi:type="dcterms:W3CDTF">2026-03-08T18:50:22Z</dcterms:created>
  <dcterms:modified xsi:type="dcterms:W3CDTF">2026-03-08T18:54:23Z</dcterms:modified>
</cp:coreProperties>
</file>